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2547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Project_Treeは、散在するプロジェクト情報を時系列と5段階のストーリーに整理し、資料用画像や2D・3Dモデルまで結び付けるアプリです。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「何でも自動化するアプリ」ではなく、事実と推論をつなぎ、説明可能な形で再利用する基盤として締める。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yoh0\AI\業務用\202604\AGENTS\202608LLM\clatest\assets\illust\thr_93a890f2b4e44783aa02_stage3_illu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949440" y="0"/>
            <a:ext cx="5239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49440" y="0"/>
            <a:ext cx="5239512" cy="6858000"/>
          </a:xfrm>
          <a:prstGeom prst="rect">
            <a:avLst/>
          </a:prstGeom>
          <a:solidFill>
            <a:srgbClr val="0E1830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2331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PROJECT_TREE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6035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プロジェクトの過去・現在・次の一手を、</a:t>
            </a:r>
            <a:endParaRPr lang="en-US" sz="38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1つの画面でつなぐ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7091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議事録・メール・資料・画像・3Dモデルを、根拠のあるロードマップへ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建設・土木プロジェクト向け　業務基盤 ／ ハッカソン提出資料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LLMの課題は「賢さ」だけでは解決しない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プロジェクト資料を毎回LLMへ渡し、その都度回答を作らせる運用には、3つの構造的な課題があります。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14600"/>
            <a:ext cx="566928" cy="566928"/>
          </a:xfrm>
          <a:prstGeom prst="ellipse">
            <a:avLst/>
          </a:prstGeom>
          <a:solidFill>
            <a:srgbClr val="9E6B0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揺れる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37307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同じ質問でも、回答や整理の仕方が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毎回変わってしまう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514600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誤る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37307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もっともらしい説明と、原文にある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事実を見分けにくい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514600"/>
            <a:ext cx="566928" cy="566928"/>
          </a:xfrm>
          <a:prstGeom prst="ellipse">
            <a:avLst/>
          </a:prstGeom>
          <a:solidFill>
            <a:srgbClr val="2E4A8F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514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3246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積み上がらない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37307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毎回読み直すため、時間と利用コストが</a:t>
            </a:r>
            <a:endParaRPr lang="en-US" sz="12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繰り返し発生する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470916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さらに、議事録・メール・報告書・画像・モデルが別々に保管され、判断の経緯が見えなくなる。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6233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257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必要なのは、回答を「作る」だけのLLMではなく、根拠を残して再利用できる「プロジェクトの記憶」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6126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一度整理し、以後は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根拠とともに参照する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業務情報を一度だけ構造化して台帳へ保存し、以後は保存済みの情報を参照する。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843784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679192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プロジェクトが「なぜ始まり、どう進み、何が課題か」を時系列で理解する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465576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3300984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LLMの推論と、原文に基づく事実を分けて扱う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087368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922776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同じ情報を会議資料・プレゼン・進捗説明へ繰り返し活用する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709160"/>
            <a:ext cx="100584" cy="100584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4544568"/>
            <a:ext cx="5440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文章だけでなく、資料用画像や2D・3Dモデルでも状況を伝える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205472" y="658368"/>
            <a:ext cx="4041648" cy="5632704"/>
          </a:xfrm>
          <a:prstGeom prst="roundRect">
            <a:avLst>
              <a:gd name="adj" fmla="val 2262"/>
            </a:avLst>
          </a:prstGeom>
          <a:solidFill>
            <a:srgbClr val="0A1226"/>
          </a:solidFill>
          <a:ln w="12700">
            <a:solidFill>
              <a:srgbClr val="3A4A6B"/>
            </a:solidFill>
            <a:prstDash val="solid"/>
          </a:ln>
          <a:effectLst>
            <a:outerShdw blurRad="127000" dist="50800" dir="5400000" algn="bl" rotWithShape="0">
              <a:srgbClr val="000000">
                <a:alpha val="45000"/>
              </a:srgbClr>
            </a:outerShdw>
          </a:effectLst>
        </p:spPr>
      </p:sp>
      <p:pic>
        <p:nvPicPr>
          <p:cNvPr id="16" name="Image 0" descr="C:\Users\ryoh0\AI\業務用\202604\AGENTS\202608LLM\clatest\scratch_out\deck_shots\crop_timeline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713232"/>
            <a:ext cx="3931920" cy="55229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03720" y="632764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原文の記録を選ぶと、その段階のイメージ図が記録の空欄に自動表示される（右）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入力から資料化までを、1本の流れにする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入力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プロンプト/フォルダ/</a:t>
            </a:r>
            <a:endParaRPr lang="en-US" sz="87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文書/画像/モデル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2638044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89504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10" name="Text 8"/>
          <p:cNvSpPr/>
          <p:nvPr/>
        </p:nvSpPr>
        <p:spPr>
          <a:xfrm>
            <a:off x="3026664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26664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整理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026664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時系列化 →</a:t>
            </a:r>
            <a:endParaRPr lang="en-US" sz="87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5段階へ分類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4887468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38928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15" name="Text 13"/>
          <p:cNvSpPr/>
          <p:nvPr/>
        </p:nvSpPr>
        <p:spPr>
          <a:xfrm>
            <a:off x="5276088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76088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理解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76088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課題・変化・空白・</a:t>
            </a:r>
            <a:endParaRPr lang="en-US" sz="87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食い違いを検出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7136892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88352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/>
        </p:spPr>
      </p:sp>
      <p:sp>
        <p:nvSpPr>
          <p:cNvPr id="20" name="Text 18"/>
          <p:cNvSpPr/>
          <p:nvPr/>
        </p:nvSpPr>
        <p:spPr>
          <a:xfrm>
            <a:off x="7525512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25512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可視化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525512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資料用画像・2D図面・</a:t>
            </a:r>
            <a:endParaRPr lang="en-US" sz="87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3D・進捗を連動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9386316" y="2011680"/>
            <a:ext cx="2468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7C2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37776" y="1508760"/>
            <a:ext cx="1993392" cy="1417320"/>
          </a:xfrm>
          <a:prstGeom prst="roundRect">
            <a:avLst>
              <a:gd name="adj" fmla="val 5161"/>
            </a:avLst>
          </a:prstGeom>
          <a:solidFill>
            <a:srgbClr val="C0392B"/>
          </a:solidFill>
          <a:ln/>
        </p:spPr>
      </p:sp>
      <p:sp>
        <p:nvSpPr>
          <p:cNvPr id="25" name="Text 23"/>
          <p:cNvSpPr/>
          <p:nvPr/>
        </p:nvSpPr>
        <p:spPr>
          <a:xfrm>
            <a:off x="9774936" y="158191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774936" y="18562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出力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774936" y="2404872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会議資料・プレゼンへ</a:t>
            </a:r>
            <a:endParaRPr lang="en-US" sz="87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70" dirty="0">
                <a:solidFill>
                  <a:srgbClr val="D7D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再構成</a:t>
            </a:r>
            <a:endParaRPr lang="en-US" sz="870" dirty="0"/>
          </a:p>
        </p:txBody>
      </p:sp>
      <p:sp>
        <p:nvSpPr>
          <p:cNvPr id="28" name="Text 26"/>
          <p:cNvSpPr/>
          <p:nvPr/>
        </p:nvSpPr>
        <p:spPr>
          <a:xfrm>
            <a:off x="640080" y="31546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状況確認 → 現状の課題 → 試行錯誤 → 課題・変化 → 解決策・発展策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627632" y="3602736"/>
            <a:ext cx="8933688" cy="2990088"/>
          </a:xfrm>
          <a:prstGeom prst="roundRect">
            <a:avLst>
              <a:gd name="adj" fmla="val 3058"/>
            </a:avLst>
          </a:prstGeom>
          <a:solidFill>
            <a:srgbClr val="0A1226"/>
          </a:solidFill>
          <a:ln w="12700">
            <a:solidFill>
              <a:srgbClr val="3A4A6B"/>
            </a:solidFill>
            <a:prstDash val="solid"/>
          </a:ln>
          <a:effectLst>
            <a:outerShdw blurRad="127000" dist="50800" dir="5400000" algn="bl" rotWithShape="0">
              <a:srgbClr val="000000">
                <a:alpha val="45000"/>
              </a:srgbClr>
            </a:outerShdw>
          </a:effectLst>
        </p:spPr>
      </p:sp>
      <p:pic>
        <p:nvPicPr>
          <p:cNvPr id="30" name="Image 0" descr="C:\Users\ryoh0\AI\業務用\202604\AGENTS\202608LLM\clatest\scratch_out\deck_shots\crop_stagecards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57600"/>
            <a:ext cx="8823960" cy="288036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40080" y="6565392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実画面：1案件の記録から自動生成された5段階のイメージ図（東部橋梁補修工事）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Project_Treeでできること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4356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案件を始める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474720" y="143560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フォルダ名から案件を作成し、資料とモデルを一括で取り込む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40080" y="211226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03911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経緯をつかむ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474720" y="203911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記録を5段階のストーリーと時系列に整理する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40080" y="271576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64261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判断を支える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74720" y="264261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根拠となる記録を使い、原因・発見・改善案を推論する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進捗を伝える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324612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資料用画像、2D図面、3Dモデル、部材進捗を連動表示する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1623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849624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説明資料を作る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474720" y="384962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MD・PDF・Word・PowerPoint・Excelへ再構成して出力する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45312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モデルを作る・活用する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474720" y="445312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プリセット・写真・記録からモデルを生成し、GLB・STL・DXF・SVGの取り込みと出力にも対応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40080" y="1417320"/>
            <a:ext cx="5715000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0256" y="1316736"/>
            <a:ext cx="5001768" cy="4663440"/>
          </a:xfrm>
          <a:prstGeom prst="roundRect">
            <a:avLst>
              <a:gd name="adj" fmla="val 1961"/>
            </a:avLst>
          </a:prstGeom>
          <a:solidFill>
            <a:srgbClr val="0A1226"/>
          </a:solidFill>
          <a:ln w="12700">
            <a:solidFill>
              <a:srgbClr val="3A4A6B"/>
            </a:solidFill>
            <a:prstDash val="solid"/>
          </a:ln>
          <a:effectLst>
            <a:outerShdw blurRad="127000" dist="50800" dir="5400000" algn="bl" rotWithShape="0">
              <a:srgbClr val="000000">
                <a:alpha val="45000"/>
              </a:srgbClr>
            </a:outerShdw>
          </a:effectLst>
        </p:spPr>
      </p:sp>
      <p:pic>
        <p:nvPicPr>
          <p:cNvPr id="24" name="Image 0" descr="C:\Users\ryoh0\AI\業務用\202604\AGENTS\202608LLM\clatest\scratch_out\deck_shots\crop_progress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371600"/>
            <a:ext cx="4892040" cy="4553712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675120" y="598932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実画面：3D進捗管理（基本構造・写真から作成・記録から作成・図面取込・部材進捗・全体進捗）とBlender連携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40080" y="5440680"/>
            <a:ext cx="5715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画面上の資料用画像やモデルを選ぶと、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6A72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関連する段階・記録・原文へ移動できます。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導入効果は「探す・確かめる・作り直す」を減らすこと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0749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727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6D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導入前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89320" y="1417320"/>
            <a:ext cx="5559552" cy="3246120"/>
          </a:xfrm>
          <a:prstGeom prst="roundRect">
            <a:avLst>
              <a:gd name="adj" fmla="val 2254"/>
            </a:avLst>
          </a:prstGeom>
          <a:solidFill>
            <a:srgbClr val="16233F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0" y="157276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Project_Tree 導入後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複数フォルダから経緯を探す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868680" y="2624328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LLMの回答を原文と照合し直す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868680" y="3191256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会議ごとに資料を作り直す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868680" y="3758184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文章だけで進捗を説明する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68680" y="4325112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処理後にAI利用額が分かる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6217920" y="20574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案件単位の時系列から経緯を確認できる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6217920" y="26243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根拠の記録・引用へすぐ戻れる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6217920" y="319125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同じ整理結果を複数形式へ再利用できる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6217920" y="375818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画像・2D・3Dと進捗率で直感的に共有できる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6217920" y="4325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3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実行前の原価見積りとモデル選択ができる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期待する成果　</a:t>
            </a:r>
            <a:r>
              <a:rPr lang="en-US" sz="130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説明準備の短縮／認識違いの早期発見／引き継ぎ品質の向上／LLM利用コストの管理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4864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5595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$0.041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22960" y="6080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1回の推論コスト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43400" y="54864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55595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2,270→1,186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526280" y="6080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入力/出力トークン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54864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5559552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0件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229600" y="6080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15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根拠なき主張（捏造ID）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653796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※実機での計測値（河川護岸整備工事・claude-opus-5）。定量効果は実案件PoCで継続測定します。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課題は実在し、対価を払う相手がいる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892040"/>
          </a:xfrm>
          <a:prstGeom prst="roundRect">
            <a:avLst>
              <a:gd name="adj" fmla="val 1495"/>
            </a:avLst>
          </a:prstGeom>
          <a:solidFill>
            <a:srgbClr val="F5F7FB"/>
          </a:solidFill>
          <a:ln w="12700">
            <a:solidFill>
              <a:srgbClr val="E1E6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課題の実在性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214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一次情報（議事録・メール・現場写真）で語られている課題か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715768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560320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工期・仕様変更の伝達漏れ、原文と食い違う記録は、</a:t>
            </a:r>
            <a:endParaRPr lang="en-US" sz="113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実際の建設現場で日常的に起きている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914400" y="3648456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493008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本アプリの検証データも、実案件の議事録・メール・</a:t>
            </a:r>
            <a:endParaRPr lang="en-US" sz="113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発注書を模した一次情報から作成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914400" y="4581144"/>
            <a:ext cx="91440" cy="914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425696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推論の根拠は必ず実データの event_id を引用し、</a:t>
            </a:r>
            <a:endParaRPr lang="en-US" sz="113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3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引用できない主張は「仮説」に分離（捏造ゼロを実測）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463040"/>
            <a:ext cx="5349240" cy="4892040"/>
          </a:xfrm>
          <a:prstGeom prst="roundRect">
            <a:avLst>
              <a:gd name="adj" fmla="val 1495"/>
            </a:avLst>
          </a:prstGeom>
          <a:solidFill>
            <a:srgbClr val="16233F"/>
          </a:solidFill>
          <a:ln/>
        </p:spPr>
      </p:sp>
      <p:sp>
        <p:nvSpPr>
          <p:cNvPr id="14" name="Text 12"/>
          <p:cNvSpPr/>
          <p:nvPr/>
        </p:nvSpPr>
        <p:spPr>
          <a:xfrm>
            <a:off x="6473952" y="16916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ビジネス成立性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73952" y="21214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誰が、何に、いくら払うか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73952" y="2606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支払う人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73952" y="28803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建設・土木の現場管理部門／工事事務所（元請・監理）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473952" y="3520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支払う理由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73952" y="37947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説明資料の作成時間、認識違いによる手戻り、</a:t>
            </a:r>
            <a:endParaRPr lang="en-US" sz="108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引き継ぎ時の経緯調査コストの削減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6473952" y="4434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価格の型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73952" y="47091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案件単位ライセンス＋従量のAI利用実費</a:t>
            </a:r>
            <a:endParaRPr lang="en-US" sz="108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（実行前見積り→承認の運用で予算超過を防止）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473952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比較対象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73952" y="5623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資料作成を外注/残業で賄う人件費、</a:t>
            </a:r>
            <a:endParaRPr lang="en-US" sz="108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8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食い違いに気づけず生じる手戻りコスト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AIでなければ作れない、根拠つきの体験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20440" cy="4800600"/>
          </a:xfrm>
          <a:prstGeom prst="roundRect">
            <a:avLst>
              <a:gd name="adj" fmla="val 2078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AIである必然性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68680" y="2523744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350008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議事録・メールの自然文から時系列と因果を読む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作業は、ルールベースでは網羅できない</a:t>
            </a:r>
            <a:endParaRPr lang="en-US" sz="1060" dirty="0"/>
          </a:p>
        </p:txBody>
      </p:sp>
      <p:sp>
        <p:nvSpPr>
          <p:cNvPr id="8" name="Shape 6"/>
          <p:cNvSpPr/>
          <p:nvPr/>
        </p:nvSpPr>
        <p:spPr>
          <a:xfrm>
            <a:off x="868680" y="3785616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361188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状況を要約するだけでなく、漫画絵風の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図解を状況ごとに描き分ける創造的処理</a:t>
            </a:r>
            <a:endParaRPr lang="en-US" sz="1060" dirty="0"/>
          </a:p>
        </p:txBody>
      </p:sp>
      <p:sp>
        <p:nvSpPr>
          <p:cNvPr id="10" name="Shape 8"/>
          <p:cNvSpPr/>
          <p:nvPr/>
        </p:nvSpPr>
        <p:spPr>
          <a:xfrm>
            <a:off x="868680" y="5047488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873752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「事実／仮説」の分離は、LLMの生成力と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検証ロジックの両方があって初めて成立</a:t>
            </a:r>
            <a:endParaRPr lang="en-US" sz="1060" dirty="0"/>
          </a:p>
        </p:txBody>
      </p:sp>
      <p:sp>
        <p:nvSpPr>
          <p:cNvPr id="12" name="Shape 10"/>
          <p:cNvSpPr/>
          <p:nvPr/>
        </p:nvSpPr>
        <p:spPr>
          <a:xfrm>
            <a:off x="4379976" y="1554480"/>
            <a:ext cx="3520440" cy="4800600"/>
          </a:xfrm>
          <a:prstGeom prst="roundRect">
            <a:avLst>
              <a:gd name="adj" fmla="val 2078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7830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技術的な作り込み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608576" y="2523744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2350008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ルール判定は SQL、推論だけLLMを呼ぶ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2レーン構成で幻覚の混入範囲を最小化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608576" y="3785616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4791456" y="361188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処理内容ごとにHaiku/Sonnet/Opusを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自動選択し、Orca Routerへ切替可能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4608576" y="5047488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4791456" y="4873752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内容ハッシュの doc_id で再現性を確保。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異常系36ケースで未処理例外0件を実測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8119872" y="1554480"/>
            <a:ext cx="3520440" cy="4800600"/>
          </a:xfrm>
          <a:prstGeom prst="roundRect">
            <a:avLst>
              <a:gd name="adj" fmla="val 2078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8472" y="178308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6FA8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次世代性・独創性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348472" y="2523744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531352" y="2350008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「その場で答えるAI」ではなく、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根拠を貯めて資産化する台帳型LLM活用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8348472" y="3785616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/>
          <p:nvPr/>
        </p:nvSpPr>
        <p:spPr>
          <a:xfrm>
            <a:off x="8531352" y="361188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SVGで生成し要素ごとに編集・アニメ化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できるAIイラストは類例が少ない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348472" y="5047488"/>
            <a:ext cx="82296" cy="822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531352" y="4873752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台帳・イラスト・3Dモデルが同じ記録IDで</a:t>
            </a:r>
            <a:endParaRPr lang="en-US" sz="1060" dirty="0"/>
          </a:p>
          <a:p>
            <a:pPr marL="0" indent="0">
              <a:lnSpc>
                <a:spcPts val="1450"/>
              </a:lnSpc>
              <a:buNone/>
            </a:pPr>
            <a:r>
              <a:rPr lang="en-US" sz="106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つながる、記録駆動のデジタルツイン</a:t>
            </a:r>
            <a:endParaRPr lang="en-US" sz="1060" dirty="0"/>
          </a:p>
        </p:txBody>
      </p:sp>
      <p:sp>
        <p:nvSpPr>
          <p:cNvPr id="28" name="Text 26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「使える試作品」から「任せられる業務基盤」へ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短期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55448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精度と安全性を実案件で検証する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2240280" y="2084832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・実データで、時系列・段階分類・モデル部位との関連付け精度を評価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2240280" y="2414016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・Outlookメール、既存Excel、BIM／IFCなど、現場で使う形式へ対応拡大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2240280" y="2743200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・認証、権限管理、監査ログ、保存データの暗号化を強化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40080" y="3328416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9E6B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28416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中期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40280" y="3328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人の確認を組み込んで継続運用する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240280" y="3858768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・推論結果の承認・修正・差し戻しを履歴として保持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2240280" y="4187952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・新しい資料だけを差分処理し、ロードマップと進捗を自動更新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2240280" y="4517136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・作業内容に応じたモデル選択で、品質とコストを最適化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40080" y="5102352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4A8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102352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長期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240280" y="5102352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4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プロジェクトの知識を次の判断へ生かす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2240280" y="5632704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・複数案件の知見を横断し、遅延・コスト・安全上の兆候を早期に提示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2240280" y="5961888"/>
            <a:ext cx="8961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・記録・資料・モデル・意思決定がつながる「プロジェクト・デジタルツイン」へ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yoh0\AI\業務用\202604\AGENTS\202608LLM\clatest\scratch_out\deck_shots\crop_full_revet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822960"/>
            <a:ext cx="4572000" cy="2862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60336" y="768096"/>
            <a:ext cx="4681728" cy="2971800"/>
          </a:xfrm>
          <a:prstGeom prst="roundRect">
            <a:avLst>
              <a:gd name="adj" fmla="val 2462"/>
            </a:avLst>
          </a:prstGeom>
          <a:ln w="12700">
            <a:solidFill>
              <a:srgbClr val="3A4A6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105156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Project_Treeが変えるのは、LLMの使い方です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2960" y="1600200"/>
            <a:ext cx="6309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その場で答えを作るAIから、</a:t>
            </a:r>
            <a:endParaRPr lang="en-US" sz="33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根拠と経緯を育てる</a:t>
            </a:r>
            <a:endParaRPr lang="en-US" sz="33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プロジェクト基盤へ。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822960" y="4434840"/>
            <a:ext cx="6035040" cy="1417320"/>
          </a:xfrm>
          <a:prstGeom prst="roundRect">
            <a:avLst>
              <a:gd name="adj" fmla="val 5161"/>
            </a:avLst>
          </a:prstGeom>
          <a:solidFill>
            <a:srgbClr val="16233F"/>
          </a:solidFill>
          <a:ln w="12700">
            <a:solidFill>
              <a:srgbClr val="3A4A6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4434840"/>
            <a:ext cx="5577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まずは1案件でPoCを実施し、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資料作成時間・修正件数・利用コスト・分類精度を測定します。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6172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C8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PROJECT_TREE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707</Words>
  <Application>Microsoft Office PowerPoint</Application>
  <PresentationFormat>ワイド画面</PresentationFormat>
  <Paragraphs>187</Paragraphs>
  <Slides>10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Arial</vt:lpstr>
      <vt:lpstr>Calibri</vt:lpstr>
      <vt:lpstr>Century Schoolbook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良 濵﨑</cp:lastModifiedBy>
  <cp:revision>2</cp:revision>
  <dcterms:created xsi:type="dcterms:W3CDTF">2026-08-15T00:48:20Z</dcterms:created>
  <dcterms:modified xsi:type="dcterms:W3CDTF">2026-08-15T11:23:56Z</dcterms:modified>
</cp:coreProperties>
</file>